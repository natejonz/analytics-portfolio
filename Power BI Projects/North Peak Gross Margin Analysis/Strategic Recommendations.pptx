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127812-BFE8-45C1-A6F3-D7385DE57D9A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38F75F8-3A13-4875-BB30-9E381046D375}">
      <dgm:prSet/>
      <dgm:spPr/>
      <dgm:t>
        <a:bodyPr/>
        <a:lstStyle/>
        <a:p>
          <a:r>
            <a:rPr lang="en-US" dirty="0"/>
            <a:t>The lowest margin region is Central America Manufacturing at 22%, but they also produced the least revenue.</a:t>
          </a:r>
        </a:p>
      </dgm:t>
    </dgm:pt>
    <dgm:pt modelId="{8963CE3B-419D-4FAD-A844-A4403CE604EB}" type="parTrans" cxnId="{F1B1CD1C-DEC0-441C-8165-AE83CF42139B}">
      <dgm:prSet/>
      <dgm:spPr/>
      <dgm:t>
        <a:bodyPr/>
        <a:lstStyle/>
        <a:p>
          <a:endParaRPr lang="en-US"/>
        </a:p>
      </dgm:t>
    </dgm:pt>
    <dgm:pt modelId="{EA17E564-10A9-4D4B-8A32-7F3AA3AFD422}" type="sibTrans" cxnId="{F1B1CD1C-DEC0-441C-8165-AE83CF42139B}">
      <dgm:prSet/>
      <dgm:spPr/>
      <dgm:t>
        <a:bodyPr/>
        <a:lstStyle/>
        <a:p>
          <a:endParaRPr lang="en-US"/>
        </a:p>
      </dgm:t>
    </dgm:pt>
    <dgm:pt modelId="{083CC5EC-14D6-48D2-B77A-57E9E50BC577}">
      <dgm:prSet/>
      <dgm:spPr/>
      <dgm:t>
        <a:bodyPr/>
        <a:lstStyle/>
        <a:p>
          <a:r>
            <a:rPr lang="en-US" dirty="0"/>
            <a:t>One of 3 regions sell Standard Tier products, with the other 2 having both over 48% margins.</a:t>
          </a:r>
        </a:p>
      </dgm:t>
    </dgm:pt>
    <dgm:pt modelId="{3EB39575-0059-463A-AB14-4323A5643DAE}" type="parTrans" cxnId="{4E900DBF-1FB4-4105-9149-9F857DF47279}">
      <dgm:prSet/>
      <dgm:spPr/>
      <dgm:t>
        <a:bodyPr/>
        <a:lstStyle/>
        <a:p>
          <a:endParaRPr lang="en-US"/>
        </a:p>
      </dgm:t>
    </dgm:pt>
    <dgm:pt modelId="{EDFC8C9C-C9D1-498B-829A-04DFBB89E971}" type="sibTrans" cxnId="{4E900DBF-1FB4-4105-9149-9F857DF47279}">
      <dgm:prSet/>
      <dgm:spPr/>
      <dgm:t>
        <a:bodyPr/>
        <a:lstStyle/>
        <a:p>
          <a:endParaRPr lang="en-US"/>
        </a:p>
      </dgm:t>
    </dgm:pt>
    <dgm:pt modelId="{EE4E0FA1-8301-457E-92F6-29CFE49613A4}">
      <dgm:prSet/>
      <dgm:spPr/>
      <dgm:t>
        <a:bodyPr/>
        <a:lstStyle/>
        <a:p>
          <a:r>
            <a:rPr lang="en-US" dirty="0"/>
            <a:t>Product 250 ranks</a:t>
          </a:r>
          <a:r>
            <a:rPr lang="en-US" b="1" dirty="0"/>
            <a:t> last in both costs and revenue, while being 2</a:t>
          </a:r>
          <a:r>
            <a:rPr lang="en-US" b="1" baseline="30000" dirty="0"/>
            <a:t>nd</a:t>
          </a:r>
          <a:r>
            <a:rPr lang="en-US" b="1" dirty="0"/>
            <a:t> to last in margin %.</a:t>
          </a:r>
        </a:p>
      </dgm:t>
    </dgm:pt>
    <dgm:pt modelId="{7954992D-6315-4E34-B4CA-A4B5DF33629F}" type="parTrans" cxnId="{B8CAD149-2DD7-44EC-BC78-52D19D997077}">
      <dgm:prSet/>
      <dgm:spPr/>
      <dgm:t>
        <a:bodyPr/>
        <a:lstStyle/>
        <a:p>
          <a:endParaRPr lang="en-US"/>
        </a:p>
      </dgm:t>
    </dgm:pt>
    <dgm:pt modelId="{7C4B0F96-CCBB-4B5E-96B5-13B1917A2A33}" type="sibTrans" cxnId="{B8CAD149-2DD7-44EC-BC78-52D19D997077}">
      <dgm:prSet/>
      <dgm:spPr/>
      <dgm:t>
        <a:bodyPr/>
        <a:lstStyle/>
        <a:p>
          <a:endParaRPr lang="en-US"/>
        </a:p>
      </dgm:t>
    </dgm:pt>
    <dgm:pt modelId="{00E87EC0-1526-46DC-A4A0-4AA1E4F74391}">
      <dgm:prSet/>
      <dgm:spPr/>
      <dgm:t>
        <a:bodyPr/>
        <a:lstStyle/>
        <a:p>
          <a:r>
            <a:rPr lang="en-US" dirty="0"/>
            <a:t>Product 200 is 14</a:t>
          </a:r>
          <a:r>
            <a:rPr lang="en-US" baseline="30000" dirty="0"/>
            <a:t>th</a:t>
          </a:r>
          <a:r>
            <a:rPr lang="en-US" dirty="0"/>
            <a:t> in cost, margin %, and revenue.</a:t>
          </a:r>
        </a:p>
      </dgm:t>
    </dgm:pt>
    <dgm:pt modelId="{63076C2A-4601-4DCE-8B6E-89CACAF3B7A4}" type="parTrans" cxnId="{7C7B3C09-7B18-4FBF-81CE-70272333A21C}">
      <dgm:prSet/>
      <dgm:spPr/>
      <dgm:t>
        <a:bodyPr/>
        <a:lstStyle/>
        <a:p>
          <a:endParaRPr lang="en-US"/>
        </a:p>
      </dgm:t>
    </dgm:pt>
    <dgm:pt modelId="{E3C1CF51-09F2-4A0B-BD2A-7797E2FA7A46}" type="sibTrans" cxnId="{7C7B3C09-7B18-4FBF-81CE-70272333A21C}">
      <dgm:prSet/>
      <dgm:spPr/>
      <dgm:t>
        <a:bodyPr/>
        <a:lstStyle/>
        <a:p>
          <a:endParaRPr lang="en-US"/>
        </a:p>
      </dgm:t>
    </dgm:pt>
    <dgm:pt modelId="{DE25A14D-A986-418F-BD16-4179CAC8D734}">
      <dgm:prSet/>
      <dgm:spPr/>
      <dgm:t>
        <a:bodyPr/>
        <a:lstStyle/>
        <a:p>
          <a:r>
            <a:rPr lang="en-US" dirty="0"/>
            <a:t>These haven’t shown much in recent years dear to low share percentages but could be vastly detrimental to margins if rapid growth occurs.</a:t>
          </a:r>
        </a:p>
      </dgm:t>
    </dgm:pt>
    <dgm:pt modelId="{7C3A819B-BA6B-4090-9BD3-CDD568977E46}" type="parTrans" cxnId="{DF3A88CD-1D4A-4DB0-B2BB-9205DB811162}">
      <dgm:prSet/>
      <dgm:spPr/>
      <dgm:t>
        <a:bodyPr/>
        <a:lstStyle/>
        <a:p>
          <a:endParaRPr lang="en-US"/>
        </a:p>
      </dgm:t>
    </dgm:pt>
    <dgm:pt modelId="{D93FE599-C5EA-41AB-BDED-F1618D688068}" type="sibTrans" cxnId="{DF3A88CD-1D4A-4DB0-B2BB-9205DB811162}">
      <dgm:prSet/>
      <dgm:spPr/>
      <dgm:t>
        <a:bodyPr/>
        <a:lstStyle/>
        <a:p>
          <a:endParaRPr lang="en-US"/>
        </a:p>
      </dgm:t>
    </dgm:pt>
    <dgm:pt modelId="{4195C728-0102-E24F-9100-F56FEB24069B}" type="pres">
      <dgm:prSet presAssocID="{B8127812-BFE8-45C1-A6F3-D7385DE57D9A}" presName="vert0" presStyleCnt="0">
        <dgm:presLayoutVars>
          <dgm:dir/>
          <dgm:animOne val="branch"/>
          <dgm:animLvl val="lvl"/>
        </dgm:presLayoutVars>
      </dgm:prSet>
      <dgm:spPr/>
    </dgm:pt>
    <dgm:pt modelId="{0238D7A2-E000-894E-BD47-AD26E1F96144}" type="pres">
      <dgm:prSet presAssocID="{438F75F8-3A13-4875-BB30-9E381046D375}" presName="thickLine" presStyleLbl="alignNode1" presStyleIdx="0" presStyleCnt="5"/>
      <dgm:spPr/>
    </dgm:pt>
    <dgm:pt modelId="{0433E310-BCD9-F64B-BC65-8A34CFB2E82D}" type="pres">
      <dgm:prSet presAssocID="{438F75F8-3A13-4875-BB30-9E381046D375}" presName="horz1" presStyleCnt="0"/>
      <dgm:spPr/>
    </dgm:pt>
    <dgm:pt modelId="{0F9573C3-6C4E-104C-916D-A33AA3BA2130}" type="pres">
      <dgm:prSet presAssocID="{438F75F8-3A13-4875-BB30-9E381046D375}" presName="tx1" presStyleLbl="revTx" presStyleIdx="0" presStyleCnt="5"/>
      <dgm:spPr/>
    </dgm:pt>
    <dgm:pt modelId="{B6ADBD03-C4FD-EE47-874A-086C9335129C}" type="pres">
      <dgm:prSet presAssocID="{438F75F8-3A13-4875-BB30-9E381046D375}" presName="vert1" presStyleCnt="0"/>
      <dgm:spPr/>
    </dgm:pt>
    <dgm:pt modelId="{7C3E1F89-C57C-D140-A64E-2911EED62484}" type="pres">
      <dgm:prSet presAssocID="{083CC5EC-14D6-48D2-B77A-57E9E50BC577}" presName="thickLine" presStyleLbl="alignNode1" presStyleIdx="1" presStyleCnt="5"/>
      <dgm:spPr/>
    </dgm:pt>
    <dgm:pt modelId="{7BCF38BB-AB3E-2340-ADEC-F2BEBD5FA6A2}" type="pres">
      <dgm:prSet presAssocID="{083CC5EC-14D6-48D2-B77A-57E9E50BC577}" presName="horz1" presStyleCnt="0"/>
      <dgm:spPr/>
    </dgm:pt>
    <dgm:pt modelId="{7D0B50B8-FF2E-C541-822E-D50F118C4CF2}" type="pres">
      <dgm:prSet presAssocID="{083CC5EC-14D6-48D2-B77A-57E9E50BC577}" presName="tx1" presStyleLbl="revTx" presStyleIdx="1" presStyleCnt="5"/>
      <dgm:spPr/>
    </dgm:pt>
    <dgm:pt modelId="{4CF4FDB0-91BB-2F42-A032-8805B7F07880}" type="pres">
      <dgm:prSet presAssocID="{083CC5EC-14D6-48D2-B77A-57E9E50BC577}" presName="vert1" presStyleCnt="0"/>
      <dgm:spPr/>
    </dgm:pt>
    <dgm:pt modelId="{73A148BD-DF00-3D41-976A-1B69C0DC8AA9}" type="pres">
      <dgm:prSet presAssocID="{EE4E0FA1-8301-457E-92F6-29CFE49613A4}" presName="thickLine" presStyleLbl="alignNode1" presStyleIdx="2" presStyleCnt="5"/>
      <dgm:spPr/>
    </dgm:pt>
    <dgm:pt modelId="{8AC08D86-618C-E14E-A31E-3A809A840C60}" type="pres">
      <dgm:prSet presAssocID="{EE4E0FA1-8301-457E-92F6-29CFE49613A4}" presName="horz1" presStyleCnt="0"/>
      <dgm:spPr/>
    </dgm:pt>
    <dgm:pt modelId="{185330C7-DB51-0B42-8100-C66D2853BE80}" type="pres">
      <dgm:prSet presAssocID="{EE4E0FA1-8301-457E-92F6-29CFE49613A4}" presName="tx1" presStyleLbl="revTx" presStyleIdx="2" presStyleCnt="5"/>
      <dgm:spPr/>
    </dgm:pt>
    <dgm:pt modelId="{5BDA544B-4A22-154C-B38E-88165FECFECB}" type="pres">
      <dgm:prSet presAssocID="{EE4E0FA1-8301-457E-92F6-29CFE49613A4}" presName="vert1" presStyleCnt="0"/>
      <dgm:spPr/>
    </dgm:pt>
    <dgm:pt modelId="{ADD7430D-65C2-D941-BE42-A7C81FDD8612}" type="pres">
      <dgm:prSet presAssocID="{00E87EC0-1526-46DC-A4A0-4AA1E4F74391}" presName="thickLine" presStyleLbl="alignNode1" presStyleIdx="3" presStyleCnt="5"/>
      <dgm:spPr/>
    </dgm:pt>
    <dgm:pt modelId="{12F5BE20-54FD-014C-A0BD-80DEE4B056A6}" type="pres">
      <dgm:prSet presAssocID="{00E87EC0-1526-46DC-A4A0-4AA1E4F74391}" presName="horz1" presStyleCnt="0"/>
      <dgm:spPr/>
    </dgm:pt>
    <dgm:pt modelId="{F1A7A6F7-BBD1-BC47-AD8F-50EDA678288F}" type="pres">
      <dgm:prSet presAssocID="{00E87EC0-1526-46DC-A4A0-4AA1E4F74391}" presName="tx1" presStyleLbl="revTx" presStyleIdx="3" presStyleCnt="5"/>
      <dgm:spPr/>
    </dgm:pt>
    <dgm:pt modelId="{6A8212CE-FCF3-1D4C-B869-038DF00F62CC}" type="pres">
      <dgm:prSet presAssocID="{00E87EC0-1526-46DC-A4A0-4AA1E4F74391}" presName="vert1" presStyleCnt="0"/>
      <dgm:spPr/>
    </dgm:pt>
    <dgm:pt modelId="{C26FBFD1-7FA6-C049-84E6-E27C246D56E2}" type="pres">
      <dgm:prSet presAssocID="{DE25A14D-A986-418F-BD16-4179CAC8D734}" presName="thickLine" presStyleLbl="alignNode1" presStyleIdx="4" presStyleCnt="5"/>
      <dgm:spPr/>
    </dgm:pt>
    <dgm:pt modelId="{D1BAD76A-1189-1B46-9EF4-A3C26BC7AB3D}" type="pres">
      <dgm:prSet presAssocID="{DE25A14D-A986-418F-BD16-4179CAC8D734}" presName="horz1" presStyleCnt="0"/>
      <dgm:spPr/>
    </dgm:pt>
    <dgm:pt modelId="{1B7E78DA-F6A3-4F49-B3A0-283943959095}" type="pres">
      <dgm:prSet presAssocID="{DE25A14D-A986-418F-BD16-4179CAC8D734}" presName="tx1" presStyleLbl="revTx" presStyleIdx="4" presStyleCnt="5"/>
      <dgm:spPr/>
    </dgm:pt>
    <dgm:pt modelId="{6ADCED2A-BFA9-664E-9C78-9D7A7EA896FB}" type="pres">
      <dgm:prSet presAssocID="{DE25A14D-A986-418F-BD16-4179CAC8D734}" presName="vert1" presStyleCnt="0"/>
      <dgm:spPr/>
    </dgm:pt>
  </dgm:ptLst>
  <dgm:cxnLst>
    <dgm:cxn modelId="{7C7B3C09-7B18-4FBF-81CE-70272333A21C}" srcId="{B8127812-BFE8-45C1-A6F3-D7385DE57D9A}" destId="{00E87EC0-1526-46DC-A4A0-4AA1E4F74391}" srcOrd="3" destOrd="0" parTransId="{63076C2A-4601-4DCE-8B6E-89CACAF3B7A4}" sibTransId="{E3C1CF51-09F2-4A0B-BD2A-7797E2FA7A46}"/>
    <dgm:cxn modelId="{304EC11A-F2D9-5047-9BE8-1649A69C306B}" type="presOf" srcId="{DE25A14D-A986-418F-BD16-4179CAC8D734}" destId="{1B7E78DA-F6A3-4F49-B3A0-283943959095}" srcOrd="0" destOrd="0" presId="urn:microsoft.com/office/officeart/2008/layout/LinedList"/>
    <dgm:cxn modelId="{F1B1CD1C-DEC0-441C-8165-AE83CF42139B}" srcId="{B8127812-BFE8-45C1-A6F3-D7385DE57D9A}" destId="{438F75F8-3A13-4875-BB30-9E381046D375}" srcOrd="0" destOrd="0" parTransId="{8963CE3B-419D-4FAD-A844-A4403CE604EB}" sibTransId="{EA17E564-10A9-4D4B-8A32-7F3AA3AFD422}"/>
    <dgm:cxn modelId="{B8CAD149-2DD7-44EC-BC78-52D19D997077}" srcId="{B8127812-BFE8-45C1-A6F3-D7385DE57D9A}" destId="{EE4E0FA1-8301-457E-92F6-29CFE49613A4}" srcOrd="2" destOrd="0" parTransId="{7954992D-6315-4E34-B4CA-A4B5DF33629F}" sibTransId="{7C4B0F96-CCBB-4B5E-96B5-13B1917A2A33}"/>
    <dgm:cxn modelId="{9B061461-1E39-B94E-9453-FAD34AC4CFEE}" type="presOf" srcId="{00E87EC0-1526-46DC-A4A0-4AA1E4F74391}" destId="{F1A7A6F7-BBD1-BC47-AD8F-50EDA678288F}" srcOrd="0" destOrd="0" presId="urn:microsoft.com/office/officeart/2008/layout/LinedList"/>
    <dgm:cxn modelId="{73541377-C908-DC43-871E-4626FC7CBA0F}" type="presOf" srcId="{EE4E0FA1-8301-457E-92F6-29CFE49613A4}" destId="{185330C7-DB51-0B42-8100-C66D2853BE80}" srcOrd="0" destOrd="0" presId="urn:microsoft.com/office/officeart/2008/layout/LinedList"/>
    <dgm:cxn modelId="{CE705C8E-39A8-DF40-9E7D-439CD636226A}" type="presOf" srcId="{B8127812-BFE8-45C1-A6F3-D7385DE57D9A}" destId="{4195C728-0102-E24F-9100-F56FEB24069B}" srcOrd="0" destOrd="0" presId="urn:microsoft.com/office/officeart/2008/layout/LinedList"/>
    <dgm:cxn modelId="{4E900DBF-1FB4-4105-9149-9F857DF47279}" srcId="{B8127812-BFE8-45C1-A6F3-D7385DE57D9A}" destId="{083CC5EC-14D6-48D2-B77A-57E9E50BC577}" srcOrd="1" destOrd="0" parTransId="{3EB39575-0059-463A-AB14-4323A5643DAE}" sibTransId="{EDFC8C9C-C9D1-498B-829A-04DFBB89E971}"/>
    <dgm:cxn modelId="{DF3A88CD-1D4A-4DB0-B2BB-9205DB811162}" srcId="{B8127812-BFE8-45C1-A6F3-D7385DE57D9A}" destId="{DE25A14D-A986-418F-BD16-4179CAC8D734}" srcOrd="4" destOrd="0" parTransId="{7C3A819B-BA6B-4090-9BD3-CDD568977E46}" sibTransId="{D93FE599-C5EA-41AB-BDED-F1618D688068}"/>
    <dgm:cxn modelId="{A50ACCE6-D632-B34A-A29F-06A829AA1B93}" type="presOf" srcId="{438F75F8-3A13-4875-BB30-9E381046D375}" destId="{0F9573C3-6C4E-104C-916D-A33AA3BA2130}" srcOrd="0" destOrd="0" presId="urn:microsoft.com/office/officeart/2008/layout/LinedList"/>
    <dgm:cxn modelId="{54CFD9F5-0E0A-5846-9CDB-3404DE36B151}" type="presOf" srcId="{083CC5EC-14D6-48D2-B77A-57E9E50BC577}" destId="{7D0B50B8-FF2E-C541-822E-D50F118C4CF2}" srcOrd="0" destOrd="0" presId="urn:microsoft.com/office/officeart/2008/layout/LinedList"/>
    <dgm:cxn modelId="{7F65BD6B-D80B-064E-B27B-A7FC37027471}" type="presParOf" srcId="{4195C728-0102-E24F-9100-F56FEB24069B}" destId="{0238D7A2-E000-894E-BD47-AD26E1F96144}" srcOrd="0" destOrd="0" presId="urn:microsoft.com/office/officeart/2008/layout/LinedList"/>
    <dgm:cxn modelId="{362B1C74-CC98-8D46-976A-2C92407A55B0}" type="presParOf" srcId="{4195C728-0102-E24F-9100-F56FEB24069B}" destId="{0433E310-BCD9-F64B-BC65-8A34CFB2E82D}" srcOrd="1" destOrd="0" presId="urn:microsoft.com/office/officeart/2008/layout/LinedList"/>
    <dgm:cxn modelId="{C60D9605-AB57-DF4E-BD93-1D2865607BFF}" type="presParOf" srcId="{0433E310-BCD9-F64B-BC65-8A34CFB2E82D}" destId="{0F9573C3-6C4E-104C-916D-A33AA3BA2130}" srcOrd="0" destOrd="0" presId="urn:microsoft.com/office/officeart/2008/layout/LinedList"/>
    <dgm:cxn modelId="{2D20E7A5-BA20-374B-AB25-F28FAC7E440B}" type="presParOf" srcId="{0433E310-BCD9-F64B-BC65-8A34CFB2E82D}" destId="{B6ADBD03-C4FD-EE47-874A-086C9335129C}" srcOrd="1" destOrd="0" presId="urn:microsoft.com/office/officeart/2008/layout/LinedList"/>
    <dgm:cxn modelId="{D295C564-55FF-4144-81C3-3437650A96F2}" type="presParOf" srcId="{4195C728-0102-E24F-9100-F56FEB24069B}" destId="{7C3E1F89-C57C-D140-A64E-2911EED62484}" srcOrd="2" destOrd="0" presId="urn:microsoft.com/office/officeart/2008/layout/LinedList"/>
    <dgm:cxn modelId="{D3A3FC45-8CEF-074D-81B8-C94DAC4FEF43}" type="presParOf" srcId="{4195C728-0102-E24F-9100-F56FEB24069B}" destId="{7BCF38BB-AB3E-2340-ADEC-F2BEBD5FA6A2}" srcOrd="3" destOrd="0" presId="urn:microsoft.com/office/officeart/2008/layout/LinedList"/>
    <dgm:cxn modelId="{4449071D-93B1-A544-AF96-889638FB398E}" type="presParOf" srcId="{7BCF38BB-AB3E-2340-ADEC-F2BEBD5FA6A2}" destId="{7D0B50B8-FF2E-C541-822E-D50F118C4CF2}" srcOrd="0" destOrd="0" presId="urn:microsoft.com/office/officeart/2008/layout/LinedList"/>
    <dgm:cxn modelId="{5E7FA0E8-068C-EA4B-BCFA-923598138CB2}" type="presParOf" srcId="{7BCF38BB-AB3E-2340-ADEC-F2BEBD5FA6A2}" destId="{4CF4FDB0-91BB-2F42-A032-8805B7F07880}" srcOrd="1" destOrd="0" presId="urn:microsoft.com/office/officeart/2008/layout/LinedList"/>
    <dgm:cxn modelId="{8E33CB4D-2BF8-CE40-B8B4-5E951D0E5F50}" type="presParOf" srcId="{4195C728-0102-E24F-9100-F56FEB24069B}" destId="{73A148BD-DF00-3D41-976A-1B69C0DC8AA9}" srcOrd="4" destOrd="0" presId="urn:microsoft.com/office/officeart/2008/layout/LinedList"/>
    <dgm:cxn modelId="{AE794C23-C05D-1342-A071-CA42039CF5CD}" type="presParOf" srcId="{4195C728-0102-E24F-9100-F56FEB24069B}" destId="{8AC08D86-618C-E14E-A31E-3A809A840C60}" srcOrd="5" destOrd="0" presId="urn:microsoft.com/office/officeart/2008/layout/LinedList"/>
    <dgm:cxn modelId="{6CAFB6F8-BC9B-2B44-A18C-7053B8DC5C34}" type="presParOf" srcId="{8AC08D86-618C-E14E-A31E-3A809A840C60}" destId="{185330C7-DB51-0B42-8100-C66D2853BE80}" srcOrd="0" destOrd="0" presId="urn:microsoft.com/office/officeart/2008/layout/LinedList"/>
    <dgm:cxn modelId="{24954D7D-CA1A-B345-B884-74CC8D734767}" type="presParOf" srcId="{8AC08D86-618C-E14E-A31E-3A809A840C60}" destId="{5BDA544B-4A22-154C-B38E-88165FECFECB}" srcOrd="1" destOrd="0" presId="urn:microsoft.com/office/officeart/2008/layout/LinedList"/>
    <dgm:cxn modelId="{9CB3D3C9-8C94-3345-934F-0BCDF638B87A}" type="presParOf" srcId="{4195C728-0102-E24F-9100-F56FEB24069B}" destId="{ADD7430D-65C2-D941-BE42-A7C81FDD8612}" srcOrd="6" destOrd="0" presId="urn:microsoft.com/office/officeart/2008/layout/LinedList"/>
    <dgm:cxn modelId="{AE4040AE-033A-174A-87C6-904AD5A83144}" type="presParOf" srcId="{4195C728-0102-E24F-9100-F56FEB24069B}" destId="{12F5BE20-54FD-014C-A0BD-80DEE4B056A6}" srcOrd="7" destOrd="0" presId="urn:microsoft.com/office/officeart/2008/layout/LinedList"/>
    <dgm:cxn modelId="{1A034CE3-68B6-3842-8581-FF7FB5419333}" type="presParOf" srcId="{12F5BE20-54FD-014C-A0BD-80DEE4B056A6}" destId="{F1A7A6F7-BBD1-BC47-AD8F-50EDA678288F}" srcOrd="0" destOrd="0" presId="urn:microsoft.com/office/officeart/2008/layout/LinedList"/>
    <dgm:cxn modelId="{FF73CA9F-8DA9-234E-8790-7FFC5C073C4A}" type="presParOf" srcId="{12F5BE20-54FD-014C-A0BD-80DEE4B056A6}" destId="{6A8212CE-FCF3-1D4C-B869-038DF00F62CC}" srcOrd="1" destOrd="0" presId="urn:microsoft.com/office/officeart/2008/layout/LinedList"/>
    <dgm:cxn modelId="{0E3B3DE9-0A82-7640-B5DC-782DF3FED686}" type="presParOf" srcId="{4195C728-0102-E24F-9100-F56FEB24069B}" destId="{C26FBFD1-7FA6-C049-84E6-E27C246D56E2}" srcOrd="8" destOrd="0" presId="urn:microsoft.com/office/officeart/2008/layout/LinedList"/>
    <dgm:cxn modelId="{FA8DB77E-7368-374B-B5F6-E8246205A87F}" type="presParOf" srcId="{4195C728-0102-E24F-9100-F56FEB24069B}" destId="{D1BAD76A-1189-1B46-9EF4-A3C26BC7AB3D}" srcOrd="9" destOrd="0" presId="urn:microsoft.com/office/officeart/2008/layout/LinedList"/>
    <dgm:cxn modelId="{4FE362FD-5106-084C-90CD-7E8EFB87CE98}" type="presParOf" srcId="{D1BAD76A-1189-1B46-9EF4-A3C26BC7AB3D}" destId="{1B7E78DA-F6A3-4F49-B3A0-283943959095}" srcOrd="0" destOrd="0" presId="urn:microsoft.com/office/officeart/2008/layout/LinedList"/>
    <dgm:cxn modelId="{A0FA8A19-0340-4344-A026-3DC4E602232D}" type="presParOf" srcId="{D1BAD76A-1189-1B46-9EF4-A3C26BC7AB3D}" destId="{6ADCED2A-BFA9-664E-9C78-9D7A7EA896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8D7A2-E000-894E-BD47-AD26E1F96144}">
      <dsp:nvSpPr>
        <dsp:cNvPr id="0" name=""/>
        <dsp:cNvSpPr/>
      </dsp:nvSpPr>
      <dsp:spPr>
        <a:xfrm>
          <a:off x="0" y="620"/>
          <a:ext cx="64229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573C3-6C4E-104C-916D-A33AA3BA2130}">
      <dsp:nvSpPr>
        <dsp:cNvPr id="0" name=""/>
        <dsp:cNvSpPr/>
      </dsp:nvSpPr>
      <dsp:spPr>
        <a:xfrm>
          <a:off x="0" y="620"/>
          <a:ext cx="6422901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lowest margin region is Central America Manufacturing at 22%, but they also produced the least revenue.</a:t>
          </a:r>
        </a:p>
      </dsp:txBody>
      <dsp:txXfrm>
        <a:off x="0" y="620"/>
        <a:ext cx="6422901" cy="1016840"/>
      </dsp:txXfrm>
    </dsp:sp>
    <dsp:sp modelId="{7C3E1F89-C57C-D140-A64E-2911EED62484}">
      <dsp:nvSpPr>
        <dsp:cNvPr id="0" name=""/>
        <dsp:cNvSpPr/>
      </dsp:nvSpPr>
      <dsp:spPr>
        <a:xfrm>
          <a:off x="0" y="1017461"/>
          <a:ext cx="64229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B50B8-FF2E-C541-822E-D50F118C4CF2}">
      <dsp:nvSpPr>
        <dsp:cNvPr id="0" name=""/>
        <dsp:cNvSpPr/>
      </dsp:nvSpPr>
      <dsp:spPr>
        <a:xfrm>
          <a:off x="0" y="1017461"/>
          <a:ext cx="6422901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One of 3 regions sell Standard Tier products, with the other 2 having both over 48% margins.</a:t>
          </a:r>
        </a:p>
      </dsp:txBody>
      <dsp:txXfrm>
        <a:off x="0" y="1017461"/>
        <a:ext cx="6422901" cy="1016840"/>
      </dsp:txXfrm>
    </dsp:sp>
    <dsp:sp modelId="{73A148BD-DF00-3D41-976A-1B69C0DC8AA9}">
      <dsp:nvSpPr>
        <dsp:cNvPr id="0" name=""/>
        <dsp:cNvSpPr/>
      </dsp:nvSpPr>
      <dsp:spPr>
        <a:xfrm>
          <a:off x="0" y="2034301"/>
          <a:ext cx="64229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330C7-DB51-0B42-8100-C66D2853BE80}">
      <dsp:nvSpPr>
        <dsp:cNvPr id="0" name=""/>
        <dsp:cNvSpPr/>
      </dsp:nvSpPr>
      <dsp:spPr>
        <a:xfrm>
          <a:off x="0" y="2034301"/>
          <a:ext cx="6422901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 250 ranks</a:t>
          </a:r>
          <a:r>
            <a:rPr lang="en-US" sz="2000" b="1" kern="1200" dirty="0"/>
            <a:t> last in both costs and revenue, while being 2</a:t>
          </a:r>
          <a:r>
            <a:rPr lang="en-US" sz="2000" b="1" kern="1200" baseline="30000" dirty="0"/>
            <a:t>nd</a:t>
          </a:r>
          <a:r>
            <a:rPr lang="en-US" sz="2000" b="1" kern="1200" dirty="0"/>
            <a:t> to last in margin %.</a:t>
          </a:r>
        </a:p>
      </dsp:txBody>
      <dsp:txXfrm>
        <a:off x="0" y="2034301"/>
        <a:ext cx="6422901" cy="1016840"/>
      </dsp:txXfrm>
    </dsp:sp>
    <dsp:sp modelId="{ADD7430D-65C2-D941-BE42-A7C81FDD8612}">
      <dsp:nvSpPr>
        <dsp:cNvPr id="0" name=""/>
        <dsp:cNvSpPr/>
      </dsp:nvSpPr>
      <dsp:spPr>
        <a:xfrm>
          <a:off x="0" y="3051142"/>
          <a:ext cx="64229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7A6F7-BBD1-BC47-AD8F-50EDA678288F}">
      <dsp:nvSpPr>
        <dsp:cNvPr id="0" name=""/>
        <dsp:cNvSpPr/>
      </dsp:nvSpPr>
      <dsp:spPr>
        <a:xfrm>
          <a:off x="0" y="3051142"/>
          <a:ext cx="6422901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 200 is 14</a:t>
          </a:r>
          <a:r>
            <a:rPr lang="en-US" sz="2000" kern="1200" baseline="30000" dirty="0"/>
            <a:t>th</a:t>
          </a:r>
          <a:r>
            <a:rPr lang="en-US" sz="2000" kern="1200" dirty="0"/>
            <a:t> in cost, margin %, and revenue.</a:t>
          </a:r>
        </a:p>
      </dsp:txBody>
      <dsp:txXfrm>
        <a:off x="0" y="3051142"/>
        <a:ext cx="6422901" cy="1016840"/>
      </dsp:txXfrm>
    </dsp:sp>
    <dsp:sp modelId="{C26FBFD1-7FA6-C049-84E6-E27C246D56E2}">
      <dsp:nvSpPr>
        <dsp:cNvPr id="0" name=""/>
        <dsp:cNvSpPr/>
      </dsp:nvSpPr>
      <dsp:spPr>
        <a:xfrm>
          <a:off x="0" y="4067982"/>
          <a:ext cx="64229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E78DA-F6A3-4F49-B3A0-283943959095}">
      <dsp:nvSpPr>
        <dsp:cNvPr id="0" name=""/>
        <dsp:cNvSpPr/>
      </dsp:nvSpPr>
      <dsp:spPr>
        <a:xfrm>
          <a:off x="0" y="4067982"/>
          <a:ext cx="6422901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These haven’t shown much in recent years dear to low share percentages but could be vastly detrimental to margins if rapid growth occurs.</a:t>
          </a:r>
        </a:p>
      </dsp:txBody>
      <dsp:txXfrm>
        <a:off x="0" y="4067982"/>
        <a:ext cx="6422901" cy="1016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7AD1-5201-7B1B-F4CF-2358F7436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F2231-CF60-D4D9-2309-BF7329C91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0C230-F6B6-3C0E-3722-7B07428C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B6F3-E959-3DCB-B50A-C1336311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9024-1F61-5D6A-8AC5-B988122C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6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4B0E-6D32-ED94-A0CE-6A02AFC0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FC77B-4600-67DF-87BD-A96FDCCEC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D7D0-EC22-63DF-E39F-2EFD6677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EE4BF-A95D-714C-7D70-48BE4C4E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BD41-E313-0BA6-C1D9-DF89C0DB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5A89-23FB-AA7F-EBDD-D90E31F7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F817A-057A-6983-D671-671411FBF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3014-C314-EC88-F715-61E86694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35606-79EC-07FB-9FFA-696F8E9A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18CE-10F3-1317-6281-CE7C602A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0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425E-2F65-F0C9-56BB-5F65788D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D6F3-D6D9-9E86-BB7F-E8EF4A548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90F68-4332-B25D-973D-9B8D63FDE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9BDC3-9D93-DFCF-C7DD-F500C373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8015C-2EE2-4FAF-ED23-10DBDD6B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8E96F-ACE5-2D41-1084-9589C27C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2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ECED-2CE4-017C-5023-8A5B0059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C252C-9ADD-1246-FE1C-713B47BA5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DB96E-55B4-B123-5301-079B28C53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AED4D-84FB-58D9-5969-E1D81C1F9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C37AB-E3B6-DA16-F8FB-3AB6BDED5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1453A-E5E4-5FCF-C7DB-3E481556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EB7F8-904F-9221-68CD-1EBD1016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BE463-4D8D-1DAA-748C-267BE6F3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F08C-417A-D2DC-5BC0-6D857786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0AC7C-9A9C-40EC-186E-650277C2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7B312-7BCE-7FB7-4C1A-5ED64858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FB897-F25D-A900-DDCC-AC1B9FBB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16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C8153-BFB6-4369-DCB0-F46D7536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9EA97-5662-7758-8E42-A0AD8495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F2A81-DB93-F9D7-95D7-D9AD5F88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3D9B-2BE6-EE74-C234-7FCE1D98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B2A9-5B6D-C13C-E3C5-A345A1C1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07D79-C579-F97C-3E3B-7F1D38C2B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7031-A1CE-03D7-1701-59A70D62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1BEDD-0DAB-9120-D216-7DE0A82C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452C3-6E85-149C-EC33-2E3740AE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4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05BE-DB26-7FF0-4BA2-CD375679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E28D-1216-33E1-2572-18E713881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48C15-3C5F-84A6-4935-3FFFF8B4F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CBEA9-A34F-2804-A4B5-30E414DB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2F1A6-CABB-2E46-5E51-9DE32A89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8EC19-3C58-F4AE-5CFC-EFDA5316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1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E119-19D3-857D-AB86-3F57F377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7AC63-A822-840B-9611-275A60E51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70F8C-7B59-E28A-0AD2-F77CB63C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4E3BA-92A0-69F7-81F1-65CC3AE6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E3AF2-E72B-532B-F486-C434CF3D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8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BA449-F2F0-979F-2C9F-D60F8BB9C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1655-6E94-1BA2-16DE-E1CD2D594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538BE-D8E5-059D-6B10-711AF640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214FD-E19D-E206-F06C-FBC7FD90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08CC-C94C-750E-7B7D-1DC197BE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3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A8430D-F2B0-A577-5365-AE09C697D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99B59-BB33-9F84-D1DC-BC8F2A77A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B0938-D11D-3A72-9EB2-607E400F1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C6A77-ADA9-7C49-83C0-2B0DA4ADF4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4936B-B09E-F114-01CC-C05A20534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0CE4A-0C87-331B-3463-298C5EA16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2BF46-5D80-164D-BF32-767591D7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42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B25D3-32BF-7679-4F24-318D80867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100">
                <a:solidFill>
                  <a:srgbClr val="FFFFFF"/>
                </a:solidFill>
              </a:rPr>
              <a:t>NorthPeak Business Solutions Profitability Analysis &amp; Strategic Recommendations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096EC-75E5-73D5-2883-7F6049CEF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By Nate Jones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EA1024A0-F784-8542-ECF7-9C3D2E4A6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559" y="2403752"/>
            <a:ext cx="3737164" cy="206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9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792EC-8EAF-DB4E-25A0-AC9E75A29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Explosive Revenue Growth Is Masking Margin Decline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2147-D7FD-F6A5-750F-1E8CB1F30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NorthPeak experienced rapid revenue growth following the initial year of 2023 driven by expansion into new markets.</a:t>
            </a:r>
          </a:p>
          <a:p>
            <a:r>
              <a:rPr lang="en-US" sz="2000"/>
              <a:t>While revenue grew approximately </a:t>
            </a:r>
            <a:r>
              <a:rPr lang="en-US" sz="2000" b="1"/>
              <a:t>3,200% over 3 years</a:t>
            </a:r>
            <a:r>
              <a:rPr lang="en-US" sz="2000"/>
              <a:t>, gross margin </a:t>
            </a:r>
            <a:r>
              <a:rPr lang="en-US" sz="2000" b="1"/>
              <a:t>declined 2.4 </a:t>
            </a:r>
            <a:r>
              <a:rPr lang="en-US" sz="2000"/>
              <a:t>percentage points</a:t>
            </a:r>
          </a:p>
          <a:p>
            <a:r>
              <a:rPr lang="en-US" sz="2000" b="1"/>
              <a:t>Question: What's driving the gross margin decrease despite explosive growth?</a:t>
            </a:r>
          </a:p>
        </p:txBody>
      </p:sp>
    </p:spTree>
    <p:extLst>
      <p:ext uri="{BB962C8B-B14F-4D97-AF65-F5344CB8AC3E}">
        <p14:creationId xmlns:p14="http://schemas.microsoft.com/office/powerpoint/2010/main" val="248145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10AA2-61A3-5C55-3607-A9A7A7D7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2800">
                <a:solidFill>
                  <a:srgbClr val="FFFFFF"/>
                </a:solidFill>
              </a:rPr>
            </a:br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Revenue Growth Is driven by a Low-Margin Region and Product Tier</a:t>
            </a:r>
            <a:br>
              <a:rPr lang="en-US" sz="2800">
                <a:solidFill>
                  <a:srgbClr val="FFFFFF"/>
                </a:solidFill>
              </a:rPr>
            </a:b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E3ADE0-2A4D-A5D5-EA27-148227D87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Growth </a:t>
            </a:r>
            <a:r>
              <a:rPr lang="en-US" altLang="en-US" sz="2000" dirty="0">
                <a:latin typeface="Arial" panose="020B0604020202020204" pitchFamily="34" charset="0"/>
              </a:rPr>
              <a:t>dominantly came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Southeast Asia Manufacturing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which: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Has one of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lowest regional gross margins at 39.7%,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</a:t>
            </a:r>
            <a:r>
              <a:rPr lang="en-US" altLang="en-US" sz="2000" dirty="0">
                <a:latin typeface="Arial" panose="020B0604020202020204" pitchFamily="34" charset="0"/>
              </a:rPr>
              <a:t>hile 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igher-margin regions such as the Multi-Regional Bundle at 48.2%,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declined in revenue share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Sells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Basic-tier products,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which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Increased revenue share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each year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reaching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53% of total revenue in 2025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lowest gross margin (39%)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well below other tiers.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Higher-margin tiers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 52.2%, Enterprise 55.7%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increased yearly revenue individually but declined in composition of the total revenue.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2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2E94A-A50C-852F-C078-AC4EC0F0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Basic Tier Products Dominated Revenue Share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4C359-01BE-E1E8-19C4-C89A156A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Basic Tier Products </a:t>
            </a:r>
            <a:r>
              <a:rPr lang="en-US" sz="2000" b="1" dirty="0"/>
              <a:t>850</a:t>
            </a:r>
            <a:r>
              <a:rPr lang="en-US" sz="2000" dirty="0"/>
              <a:t> and </a:t>
            </a:r>
            <a:r>
              <a:rPr lang="en-US" sz="2000" b="1" dirty="0"/>
              <a:t>800</a:t>
            </a:r>
            <a:r>
              <a:rPr lang="en-US" sz="2000" dirty="0"/>
              <a:t> were the top 2 in revenue, but also in costs. They were also respectively ranked </a:t>
            </a:r>
            <a:r>
              <a:rPr lang="en-US" sz="2000" b="1" dirty="0"/>
              <a:t>12</a:t>
            </a:r>
            <a:r>
              <a:rPr lang="en-US" sz="2000" b="1" baseline="30000" dirty="0"/>
              <a:t>th</a:t>
            </a:r>
            <a:r>
              <a:rPr lang="en-US" sz="2000" b="1" dirty="0"/>
              <a:t> and 8</a:t>
            </a:r>
            <a:r>
              <a:rPr lang="en-US" sz="2000" b="1" baseline="30000" dirty="0"/>
              <a:t>th</a:t>
            </a:r>
            <a:r>
              <a:rPr lang="en-US" sz="2000" b="1" dirty="0"/>
              <a:t> in margin %.</a:t>
            </a:r>
          </a:p>
        </p:txBody>
      </p:sp>
    </p:spTree>
    <p:extLst>
      <p:ext uri="{BB962C8B-B14F-4D97-AF65-F5344CB8AC3E}">
        <p14:creationId xmlns:p14="http://schemas.microsoft.com/office/powerpoint/2010/main" val="214066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4444163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66737-02E5-6943-514E-2BE80941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11" y="767258"/>
            <a:ext cx="3209335" cy="5323484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Future Margin Decline Risks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83158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C840F8-FA2E-56CD-5BFA-BF21B28098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453084"/>
              </p:ext>
            </p:extLst>
          </p:nvPr>
        </p:nvGraphicFramePr>
        <p:xfrm>
          <a:off x="5242917" y="1005298"/>
          <a:ext cx="6422901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166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67006-EB97-574D-9A51-4390422E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Strategic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F44FB-FDD4-E9F6-D85D-23FA6E39B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Continued Basic-tier dominance will further compress gross margin despite revenue growth.</a:t>
            </a:r>
          </a:p>
          <a:p>
            <a:pPr marL="0" indent="0">
              <a:buNone/>
            </a:pPr>
            <a:r>
              <a:rPr lang="en-US" sz="2000" b="1" dirty="0"/>
              <a:t>Recommendations:</a:t>
            </a:r>
          </a:p>
          <a:p>
            <a:r>
              <a:rPr lang="en-US" sz="2000" b="1" dirty="0"/>
              <a:t>Rebalance product mix</a:t>
            </a:r>
            <a:r>
              <a:rPr lang="en-US" sz="2000" dirty="0"/>
              <a:t> by introducing Standard or Premium offerings in high-growth regions.</a:t>
            </a:r>
          </a:p>
          <a:p>
            <a:r>
              <a:rPr lang="en-US" sz="2000" b="1" dirty="0"/>
              <a:t>Reprice or repackage Basic tier</a:t>
            </a:r>
            <a:r>
              <a:rPr lang="en-US" sz="2000" dirty="0"/>
              <a:t> (bundles, volume thresholds, cost controls).</a:t>
            </a:r>
          </a:p>
          <a:p>
            <a:r>
              <a:rPr lang="en-US" sz="2000" b="1" dirty="0"/>
              <a:t>Track mix-adjusted margin KPIs</a:t>
            </a:r>
            <a:r>
              <a:rPr lang="en-US" sz="2000" dirty="0"/>
              <a:t> alongside revenue growth.</a:t>
            </a:r>
          </a:p>
          <a:p>
            <a:r>
              <a:rPr lang="en-US" sz="2000" dirty="0"/>
              <a:t>Closely Monitor Central America Region</a:t>
            </a:r>
          </a:p>
        </p:txBody>
      </p:sp>
    </p:spTree>
    <p:extLst>
      <p:ext uri="{BB962C8B-B14F-4D97-AF65-F5344CB8AC3E}">
        <p14:creationId xmlns:p14="http://schemas.microsoft.com/office/powerpoint/2010/main" val="84369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11575</TotalTime>
  <Words>365</Words>
  <Application>Microsoft Macintosh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NorthPeak Business Solutions Profitability Analysis &amp; Strategic Recommendations</vt:lpstr>
      <vt:lpstr>Explosive Revenue Growth Is Masking Margin Decline</vt:lpstr>
      <vt:lpstr>  Revenue Growth Is driven by a Low-Margin Region and Product Tier  </vt:lpstr>
      <vt:lpstr>Basic Tier Products Dominated Revenue Share</vt:lpstr>
      <vt:lpstr>Future Margin Decline Risks</vt:lpstr>
      <vt:lpstr>Strategic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Jones</dc:creator>
  <cp:lastModifiedBy>Nathaniel Jones</cp:lastModifiedBy>
  <cp:revision>18</cp:revision>
  <dcterms:created xsi:type="dcterms:W3CDTF">2026-01-02T16:11:59Z</dcterms:created>
  <dcterms:modified xsi:type="dcterms:W3CDTF">2026-01-10T17:07:52Z</dcterms:modified>
</cp:coreProperties>
</file>